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731" autoAdjust="0"/>
  </p:normalViewPr>
  <p:slideViewPr>
    <p:cSldViewPr snapToGrid="0" snapToObjects="1">
      <p:cViewPr varScale="1">
        <p:scale>
          <a:sx n="73" d="100"/>
          <a:sy n="73" d="100"/>
        </p:scale>
        <p:origin x="55" y="11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4067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Good morning. I'm </a:t>
            </a:r>
            <a:r>
              <a:rPr dirty="0" err="1"/>
              <a:t>Xucheng</a:t>
            </a:r>
            <a:r>
              <a:rPr dirty="0"/>
              <a:t> Zhuang, a junior in Software Engineering at Sichuan University. My research interests </a:t>
            </a:r>
            <a:r>
              <a:rPr lang="en-US" dirty="0"/>
              <a:t>focus</a:t>
            </a:r>
            <a:r>
              <a:rPr dirty="0"/>
              <a:t> on large language models — especially multimodal and agent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My research experience</a:t>
            </a:r>
            <a:r>
              <a:rPr lang="en-US" dirty="0"/>
              <a:t> mainly</a:t>
            </a:r>
            <a:r>
              <a:rPr dirty="0"/>
              <a:t> comes from two lab internships and two innovation projects. At Renmin University, in Professor Zhao Xin's group, I worked on multimodal LLMs — first helping build an instruction-synthesis pipeline for computer-use agents, and </a:t>
            </a:r>
            <a:r>
              <a:rPr lang="en-US" dirty="0"/>
              <a:t>currently</a:t>
            </a:r>
            <a:r>
              <a:rPr dirty="0"/>
              <a:t> developing a multimodal agent for front-end web generation. At Shanghai Jiao Tong University, in Professor Zhai </a:t>
            </a:r>
            <a:r>
              <a:rPr dirty="0" err="1"/>
              <a:t>Guangtao's</a:t>
            </a:r>
            <a:r>
              <a:rPr dirty="0"/>
              <a:t> group, I focus on multimodal evaluation. I'm a third author on a </a:t>
            </a:r>
            <a:r>
              <a:rPr dirty="0" err="1"/>
              <a:t>NeurIPS</a:t>
            </a:r>
            <a:r>
              <a:rPr dirty="0"/>
              <a:t> submission, where I ran inference for T2I, multimodal-understanding, and unified generation-understanding models. I'm also leading a 2D-to-3D reconstruction benchmark. I additionally led a university-level project on LLM jailbreak attacks, designing an RL-based prompt-optimization framework that yielded one invention patent.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As for honors and awards</a:t>
            </a:r>
            <a:r>
              <a:rPr dirty="0"/>
              <a:t>, I rank first out of 246 in my major.</a:t>
            </a:r>
            <a:r>
              <a:rPr lang="en-US" dirty="0"/>
              <a:t> And</a:t>
            </a:r>
            <a:r>
              <a:rPr dirty="0"/>
              <a:t> I received the National Scholarship for two consecutive years and was awarded Meritorious Winner in the MCM/ICM. I also completed the SOC Summer Workshop at the National University of Singapore.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Looking ahead, I plan to focus on multimodal and agent systems. Three directions interest me most: cross-modal modeling; agents; and reasoning, planning, and long-term memory under complex tasks. My goal is to contribute research at the level of top venues.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That’s all. </a:t>
            </a:r>
            <a:r>
              <a:rPr dirty="0"/>
              <a:t>Thank you for your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73152" cy="6858000"/>
          </a:xfrm>
          <a:prstGeom prst="rect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CFD8E3"/>
                </a:solidFill>
                <a:latin typeface="Calibri"/>
              </a:rPr>
              <a:t>INTERVIEW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Xucheng Zhuang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2044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CFD8E3"/>
                </a:solidFill>
                <a:latin typeface="Calibri"/>
              </a:rPr>
              <a:t>庄绪成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069080"/>
            <a:ext cx="914400" cy="0"/>
          </a:xfrm>
          <a:prstGeom prst="line">
            <a:avLst/>
          </a:prstGeom>
          <a:ln w="31750">
            <a:solidFill>
              <a:srgbClr val="C83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20624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B.E. in Software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FD8E3"/>
                </a:solidFill>
                <a:latin typeface="Calibri"/>
              </a:rPr>
              <a:t>Sichuan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280160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55606B"/>
                </a:solidFill>
                <a:latin typeface="Calibri"/>
              </a:rPr>
              <a:t>Graduate Application Interview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691640"/>
            <a:ext cx="6949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0B2A4A"/>
                </a:solidFill>
                <a:latin typeface="Calibri"/>
              </a:rPr>
              <a:t>Toward Multimodal LLMs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331720"/>
            <a:ext cx="6949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0B2A4A"/>
                </a:solidFill>
                <a:latin typeface="Calibri"/>
              </a:rPr>
              <a:t>and Agent Systems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73168" y="3246120"/>
            <a:ext cx="1170432" cy="0"/>
          </a:xfrm>
          <a:prstGeom prst="line">
            <a:avLst/>
          </a:prstGeom>
          <a:ln w="31750">
            <a:solidFill>
              <a:srgbClr val="C83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54880" y="352044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55606B"/>
                </a:solidFill>
                <a:latin typeface="Calibri"/>
              </a:rPr>
              <a:t>RESEARCH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8404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Calibri"/>
              </a:rPr>
              <a:t>Multimodal Large Language Models  ·  LLM-based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7548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55606B"/>
                </a:solidFill>
                <a:latin typeface="Calibri"/>
              </a:rPr>
              <a:t>CONTACT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07492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>scuzxc660223@gmail.com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39496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>github.com/Tonyzxch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9392" y="6693408"/>
            <a:ext cx="7909560" cy="164592"/>
          </a:xfrm>
          <a:prstGeom prst="rect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55606B"/>
                </a:solidFill>
                <a:latin typeface="Calibri"/>
              </a:rPr>
              <a:t>3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Research Experience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444752" cy="0"/>
          </a:xfrm>
          <a:prstGeom prst="line">
            <a:avLst/>
          </a:prstGeom>
          <a:ln w="31750">
            <a:solidFill>
              <a:srgbClr val="C83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417320"/>
            <a:ext cx="54864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" cy="2468880"/>
          </a:xfrm>
          <a:prstGeom prst="rect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8191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8372D"/>
                </a:solidFill>
                <a:latin typeface="Calibri"/>
              </a:rPr>
              <a:t>INTERNSHIP  ·  RUC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Multimodal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606B"/>
                </a:solidFill>
                <a:latin typeface="Calibri"/>
              </a:rPr>
              <a:t>Prof. Zhao Xin's Group, Renmin University of China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848920"/>
            <a:ext cx="109728" cy="109728"/>
          </a:xfrm>
          <a:prstGeom prst="rect">
            <a:avLst/>
          </a:prstGeom>
          <a:solidFill>
            <a:srgbClr val="C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788920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Built a high-quality instruction-synthesis pipeline for computer-use agents (CUA).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351840"/>
            <a:ext cx="109728" cy="109728"/>
          </a:xfrm>
          <a:prstGeom prst="rect">
            <a:avLst/>
          </a:prstGeom>
          <a:solidFill>
            <a:srgbClr val="C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3291840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Currently developing a multimodal agent for front-end web-page generation.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54864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109728" cy="2468880"/>
          </a:xfrm>
          <a:prstGeom prst="rect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58191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8372D"/>
                </a:solidFill>
                <a:latin typeface="Calibri"/>
              </a:rPr>
              <a:t>INTERNSHIP  ·  SJTU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7452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Multimodal Model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317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606B"/>
                </a:solidFill>
                <a:latin typeface="Calibri"/>
              </a:rPr>
              <a:t>Prof. Zhai Guangtao's Group, Shanghai Jiao Tong University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848920"/>
            <a:ext cx="109728" cy="109728"/>
          </a:xfrm>
          <a:prstGeom prst="rect">
            <a:avLst/>
          </a:prstGeom>
          <a:solidFill>
            <a:srgbClr val="C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48272" y="2788920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3rd author on a NeurIPS submission — ran inference for T2I, MLLM, and unified gen-understanding models.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351840"/>
            <a:ext cx="109728" cy="109728"/>
          </a:xfrm>
          <a:prstGeom prst="rect">
            <a:avLst/>
          </a:prstGeom>
          <a:solidFill>
            <a:srgbClr val="C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48272" y="3291840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Leading a 2D-to-3D reconstruction benchmark — 600 real + 1,200 AI-generated images collected.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050792"/>
            <a:ext cx="54864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4050792"/>
            <a:ext cx="109728" cy="2468880"/>
          </a:xfrm>
          <a:prstGeom prst="rect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421538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8372D"/>
                </a:solidFill>
                <a:latin typeface="Calibri"/>
              </a:rPr>
              <a:t>INNOVATION PROJECT  ·  PROJECT LEADER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507992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Jailbreak Attacks on LLMs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9651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606B"/>
                </a:solidFill>
                <a:latin typeface="Calibri"/>
              </a:rPr>
              <a:t>University-Level Undergraduate Innovation Project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5482392"/>
            <a:ext cx="109728" cy="109728"/>
          </a:xfrm>
          <a:prstGeom prst="rect">
            <a:avLst/>
          </a:prstGeom>
          <a:solidFill>
            <a:srgbClr val="C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24712" y="5422392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Systematic literature review and prompt-attack evaluation across mainstream LLMs.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5985312"/>
            <a:ext cx="109728" cy="109728"/>
          </a:xfrm>
          <a:prstGeom prst="rect">
            <a:avLst/>
          </a:prstGeom>
          <a:solidFill>
            <a:srgbClr val="C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24712" y="5925312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Designed an RL-based prompt-optimization framework →  1 invention patent.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050792"/>
            <a:ext cx="54864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72200" y="4050792"/>
            <a:ext cx="109728" cy="2468880"/>
          </a:xfrm>
          <a:prstGeom prst="rect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421538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8372D"/>
                </a:solidFill>
                <a:latin typeface="Calibri"/>
              </a:rPr>
              <a:t>INNOVATION PROJECT  ·  CORE 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507992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Scenario-Controlled Image Generation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9651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606B"/>
                </a:solidFill>
                <a:latin typeface="Calibri"/>
              </a:rPr>
              <a:t>National-Level Undergraduate Innovation Project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5482392"/>
            <a:ext cx="109728" cy="109728"/>
          </a:xfrm>
          <a:prstGeom prst="rect">
            <a:avLst/>
          </a:prstGeom>
          <a:solidFill>
            <a:srgbClr val="C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48272" y="5422392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Built generation pipelines under scenario constraints to produce synthetic training data.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5985312"/>
            <a:ext cx="109728" cy="109728"/>
          </a:xfrm>
          <a:prstGeom prst="rect">
            <a:avLst/>
          </a:prstGeom>
          <a:solidFill>
            <a:srgbClr val="C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48272" y="5925312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Evaluated downstream gains on animal-recognition tasks.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55606B"/>
                </a:solidFill>
                <a:latin typeface="Calibri"/>
              </a:rPr>
              <a:t>4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Honors &amp; Awards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444752" cy="0"/>
          </a:xfrm>
          <a:prstGeom prst="line">
            <a:avLst/>
          </a:prstGeom>
          <a:ln w="31750">
            <a:solidFill>
              <a:srgbClr val="C83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417320"/>
            <a:ext cx="11091672" cy="9601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2704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FD8E3"/>
                </a:solidFill>
                <a:latin typeface="Calibri"/>
              </a:rPr>
              <a:t>ACADEMIC RANK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 / 246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92024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CFD8E3"/>
                </a:solidFill>
                <a:latin typeface="Calibri"/>
              </a:rPr>
              <a:t>in major (Software Engineering)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600200"/>
            <a:ext cx="15000" cy="594360"/>
          </a:xfrm>
          <a:prstGeom prst="rect">
            <a:avLst/>
          </a:prstGeom>
          <a:solidFill>
            <a:srgbClr val="557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52704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FD8E3"/>
                </a:solidFill>
                <a:latin typeface="Calibri"/>
              </a:rPr>
              <a:t>CUMULATIVE GPA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801368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3.95 / 4.00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9202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CFD8E3"/>
                </a:solidFill>
                <a:latin typeface="Calibri"/>
              </a:rPr>
              <a:t>Sichuan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060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8372D"/>
                </a:solidFill>
                <a:latin typeface="Calibri"/>
              </a:rPr>
              <a:t>MAJOR HONORS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3017520"/>
            <a:ext cx="1280160" cy="0"/>
          </a:xfrm>
          <a:prstGeom prst="line">
            <a:avLst/>
          </a:prstGeom>
          <a:ln w="25400">
            <a:solidFill>
              <a:srgbClr val="C83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32461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8372D"/>
                </a:solidFill>
                <a:latin typeface="Calibri"/>
              </a:rPr>
              <a:t>2025 &amp;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2461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National Scholarship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59359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606B"/>
                </a:solidFill>
                <a:latin typeface="Calibri"/>
              </a:rPr>
              <a:t>Two consecutive years (top-tier merit award)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8372D"/>
                </a:solidFill>
                <a:latin typeface="Calibri"/>
              </a:rPr>
              <a:t>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1605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MCM/ICM Meritorious Winner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50799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606B"/>
                </a:solidFill>
                <a:latin typeface="Calibri"/>
              </a:rPr>
              <a:t>Mathematical Contest in Modeling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749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8372D"/>
                </a:solidFill>
                <a:latin typeface="Calibri"/>
              </a:rPr>
              <a:t>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0749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NUS SOC Summer Workshop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42239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5606B"/>
                </a:solidFill>
                <a:latin typeface="Calibri"/>
              </a:rPr>
              <a:t>National University of Singapore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060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8372D"/>
                </a:solidFill>
                <a:latin typeface="Calibri"/>
              </a:rPr>
              <a:t>ADDITIONAL RECOGNITION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0" y="3017520"/>
            <a:ext cx="1737360" cy="0"/>
          </a:xfrm>
          <a:prstGeom prst="line">
            <a:avLst/>
          </a:prstGeom>
          <a:ln w="25400">
            <a:solidFill>
              <a:srgbClr val="C83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00800" y="3246120"/>
            <a:ext cx="5486400" cy="3108960"/>
          </a:xfrm>
          <a:prstGeom prst="rect">
            <a:avLst/>
          </a:prstGeom>
          <a:solidFill>
            <a:srgbClr val="F4F6F8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766560" y="3534720"/>
            <a:ext cx="109728" cy="109728"/>
          </a:xfrm>
          <a:prstGeom prst="rect">
            <a:avLst/>
          </a:prstGeom>
          <a:solidFill>
            <a:srgbClr val="C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22592" y="3474720"/>
            <a:ext cx="4498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Outstanding Student of Sichuan University  —  3 years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4037640"/>
            <a:ext cx="109728" cy="109728"/>
          </a:xfrm>
          <a:prstGeom prst="rect">
            <a:avLst/>
          </a:prstGeom>
          <a:solidFill>
            <a:srgbClr val="C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22592" y="3977640"/>
            <a:ext cx="4498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Huawei ICT Competition (Ascend AI)  —  Provincial 2nd Prize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4540560"/>
            <a:ext cx="109728" cy="109728"/>
          </a:xfrm>
          <a:prstGeom prst="rect">
            <a:avLst/>
          </a:prstGeom>
          <a:solidFill>
            <a:srgbClr val="C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22592" y="4480560"/>
            <a:ext cx="4498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National College Math Modeling  —  Provincial 2nd Prize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5043480"/>
            <a:ext cx="109728" cy="109728"/>
          </a:xfrm>
          <a:prstGeom prst="rect">
            <a:avLst/>
          </a:prstGeom>
          <a:solidFill>
            <a:srgbClr val="C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22592" y="4983480"/>
            <a:ext cx="4498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National English Competition  —  Third Prize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5546400"/>
            <a:ext cx="109728" cy="109728"/>
          </a:xfrm>
          <a:prstGeom prst="rect">
            <a:avLst/>
          </a:prstGeom>
          <a:solidFill>
            <a:srgbClr val="C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22592" y="5486400"/>
            <a:ext cx="4498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CET-4: 656     CET-6: 636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55606B"/>
                </a:solidFill>
                <a:latin typeface="Calibri"/>
              </a:rPr>
              <a:t>5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Future Research Plan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78992"/>
            <a:ext cx="1444752" cy="0"/>
          </a:xfrm>
          <a:prstGeom prst="line">
            <a:avLst/>
          </a:prstGeom>
          <a:ln w="31750">
            <a:solidFill>
              <a:srgbClr val="C83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417320"/>
            <a:ext cx="11091672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FD8E3"/>
                </a:solidFill>
                <a:latin typeface="Calibri"/>
              </a:rPr>
              <a:t>LONG-TERM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Multimodal Models  &amp;  Agent Systems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3611880" cy="3931920"/>
          </a:xfrm>
          <a:prstGeom prst="rect">
            <a:avLst/>
          </a:prstGeom>
          <a:solidFill>
            <a:srgbClr val="F4F6F8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8372D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Cross-modal Modeling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4663440"/>
            <a:ext cx="548640" cy="0"/>
          </a:xfrm>
          <a:prstGeom prst="line">
            <a:avLst/>
          </a:prstGeom>
          <a:ln w="25400">
            <a:solidFill>
              <a:srgbClr val="C83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4800600"/>
            <a:ext cx="28803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Effective synergy between vision, language and other modalities for understanding and generation in open environments.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468880"/>
            <a:ext cx="3611880" cy="3931920"/>
          </a:xfrm>
          <a:prstGeom prst="rect">
            <a:avLst/>
          </a:prstGeom>
          <a:solidFill>
            <a:srgbClr val="F4F6F8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2788920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8372D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886200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Agent Systems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54880" y="4663440"/>
            <a:ext cx="548640" cy="0"/>
          </a:xfrm>
          <a:prstGeom prst="line">
            <a:avLst/>
          </a:prstGeom>
          <a:ln w="25400">
            <a:solidFill>
              <a:srgbClr val="C83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54880" y="4800600"/>
            <a:ext cx="28803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Integrating tools, environmental feedback, and task state to enable reliable autonomous decision-making and execution.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468880"/>
            <a:ext cx="3611880" cy="3931920"/>
          </a:xfrm>
          <a:prstGeom prst="rect">
            <a:avLst/>
          </a:prstGeom>
          <a:solidFill>
            <a:srgbClr val="F4F6F8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0" y="2788920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8372D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886200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Reasoning &amp; Memory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95360" y="4663440"/>
            <a:ext cx="548640" cy="0"/>
          </a:xfrm>
          <a:prstGeom prst="line">
            <a:avLst/>
          </a:prstGeom>
          <a:ln w="25400">
            <a:solidFill>
              <a:srgbClr val="C83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95360" y="4800600"/>
            <a:ext cx="28803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Enhancing reasoning, planning, and long-term memory in large models for complex, multi-step tasks.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dirty="0">
                <a:solidFill>
                  <a:srgbClr val="55606B"/>
                </a:solidFill>
                <a:latin typeface="Calibri"/>
              </a:rPr>
              <a:t>Goal:  contribute research at the level of top venues.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03120" cy="54864"/>
          </a:xfrm>
          <a:prstGeom prst="rect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200" dirty="0">
                <a:solidFill>
                  <a:srgbClr val="CFD8E3"/>
                </a:solidFill>
                <a:latin typeface="Calibri"/>
              </a:rPr>
              <a:t>F</a:t>
            </a:r>
            <a:r>
              <a:rPr lang="en-US" sz="2200" dirty="0">
                <a:solidFill>
                  <a:srgbClr val="CFD8E3"/>
                </a:solidFill>
              </a:rPr>
              <a:t>eel free to ask me any questions</a:t>
            </a:r>
            <a:r>
              <a:rPr sz="2200" b="0" dirty="0">
                <a:solidFill>
                  <a:srgbClr val="CFD8E3"/>
                </a:solidFill>
                <a:latin typeface="Calibr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572000"/>
            <a:ext cx="2103120" cy="54864"/>
          </a:xfrm>
          <a:prstGeom prst="rect">
            <a:avLst/>
          </a:prstGeom>
          <a:solidFill>
            <a:srgbClr val="C8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CFD8E3"/>
                </a:solidFill>
                <a:latin typeface="Calibri"/>
              </a:rPr>
              <a:t>Xucheng Zhuang  ·  Sichuan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CFD8E3"/>
                </a:solidFill>
                <a:latin typeface="Calibri"/>
              </a:rPr>
              <a:t>scuzxc660223@gmail.com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663</Words>
  <Application>Microsoft Office PowerPoint</Application>
  <PresentationFormat>宽屏</PresentationFormat>
  <Paragraphs>82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绪成 庄</cp:lastModifiedBy>
  <cp:revision>4</cp:revision>
  <dcterms:created xsi:type="dcterms:W3CDTF">2013-01-27T09:14:16Z</dcterms:created>
  <dcterms:modified xsi:type="dcterms:W3CDTF">2026-05-25T18:23:31Z</dcterms:modified>
  <cp:category/>
</cp:coreProperties>
</file>